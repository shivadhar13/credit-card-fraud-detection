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1" r:id="rId2"/>
    <p:sldMasterId id="2147483673" r:id="rId3"/>
    <p:sldMasterId id="2147483685" r:id="rId4"/>
    <p:sldMasterId id="2147483697" r:id="rId5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gYcIr8lY/yeFXQQzSbEwFynkiI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1" autoAdjust="0"/>
    <p:restoredTop sz="94660"/>
  </p:normalViewPr>
  <p:slideViewPr>
    <p:cSldViewPr snapToGrid="0">
      <p:cViewPr varScale="1">
        <p:scale>
          <a:sx n="63" d="100"/>
          <a:sy n="63" d="100"/>
        </p:scale>
        <p:origin x="77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customschemas.google.com/relationships/presentationmetadata" Target="metadata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2" Type="http://schemas.openxmlformats.org/officeDocument/2006/relationships/slideMaster" Target="slideMasters/slideMaster2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41" name="Google Shape;54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1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1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7" name="Google Shape;27;p11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8" name="Google Shape;28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99393" y="22035"/>
            <a:ext cx="1696876" cy="73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09191" y="107238"/>
            <a:ext cx="838037" cy="618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02031" y="72358"/>
            <a:ext cx="964700" cy="639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53232" y="22035"/>
            <a:ext cx="1615353" cy="793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1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2936" y="176579"/>
            <a:ext cx="1246867" cy="430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1154083" y="778682"/>
            <a:ext cx="10058400" cy="1211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1149904" y="1989910"/>
            <a:ext cx="10058400" cy="387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13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7" name="Google Shape;47;p13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body" idx="1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body" idx="2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>
            <a:spLocks noGrp="1"/>
          </p:cNvSpPr>
          <p:nvPr>
            <p:ph type="title"/>
          </p:nvPr>
        </p:nvSpPr>
        <p:spPr>
          <a:xfrm>
            <a:off x="1066800" y="1883856"/>
            <a:ext cx="10058400" cy="1211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9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8" name="Google Shape;88;p19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15" y="0"/>
            <a:ext cx="12191985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89" name="Google Shape;89;p19"/>
          <p:cNvSpPr txBox="1">
            <a:spLocks noGrp="1"/>
          </p:cNvSpPr>
          <p:nvPr>
            <p:ph type="body" idx="1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>
            <a:spLocks noGrp="1"/>
          </p:cNvSpPr>
          <p:nvPr>
            <p:ph type="title"/>
          </p:nvPr>
        </p:nvSpPr>
        <p:spPr>
          <a:xfrm>
            <a:off x="1066800" y="1883856"/>
            <a:ext cx="10058400" cy="1211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0"/>
          <p:cNvSpPr txBox="1">
            <a:spLocks noGrp="1"/>
          </p:cNvSpPr>
          <p:nvPr>
            <p:ph type="body" idx="1"/>
          </p:nvPr>
        </p:nvSpPr>
        <p:spPr>
          <a:xfrm rot="5400000">
            <a:off x="4812481" y="-474107"/>
            <a:ext cx="2627999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1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body" idx="1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>
            <a:spLocks noGrp="1"/>
          </p:cNvSpPr>
          <p:nvPr>
            <p:ph type="title"/>
          </p:nvPr>
        </p:nvSpPr>
        <p:spPr>
          <a:xfrm>
            <a:off x="1066800" y="1883856"/>
            <a:ext cx="10058400" cy="1211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2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24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4"/>
          <p:cNvSpPr txBox="1"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1" name="Google Shape;131;p2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4" name="Google Shape;134;p24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5" name="Google Shape;135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89380" y="187474"/>
            <a:ext cx="2632365" cy="1142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86185" y="149113"/>
            <a:ext cx="1470891" cy="1150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18803" y="88199"/>
            <a:ext cx="1615353" cy="1211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20145" y="47420"/>
            <a:ext cx="2533974" cy="1293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10320" y="431832"/>
            <a:ext cx="1892300" cy="65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>
            <a:spLocks noGrp="1"/>
          </p:cNvSpPr>
          <p:nvPr>
            <p:ph type="title"/>
          </p:nvPr>
        </p:nvSpPr>
        <p:spPr>
          <a:xfrm>
            <a:off x="1066800" y="1883857"/>
            <a:ext cx="10058400" cy="892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5"/>
          <p:cNvSpPr txBox="1">
            <a:spLocks noGrp="1"/>
          </p:cNvSpPr>
          <p:nvPr>
            <p:ph type="body" idx="1"/>
          </p:nvPr>
        </p:nvSpPr>
        <p:spPr>
          <a:xfrm>
            <a:off x="1097280" y="2921882"/>
            <a:ext cx="10058400" cy="2947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43" name="Google Shape;143;p2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26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6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6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51" name="Google Shape;151;p2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4" name="Google Shape;154;p26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7"/>
          <p:cNvSpPr txBox="1">
            <a:spLocks noGrp="1"/>
          </p:cNvSpPr>
          <p:nvPr>
            <p:ph type="body" idx="1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58" name="Google Shape;158;p27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59" name="Google Shape;159;p2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8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5" name="Google Shape;165;p28"/>
          <p:cNvSpPr txBox="1">
            <a:spLocks noGrp="1"/>
          </p:cNvSpPr>
          <p:nvPr>
            <p:ph type="body" idx="2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66" name="Google Shape;166;p28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7" name="Google Shape;167;p28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68" name="Google Shape;168;p2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2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>
            <a:spLocks noGrp="1"/>
          </p:cNvSpPr>
          <p:nvPr>
            <p:ph type="title"/>
          </p:nvPr>
        </p:nvSpPr>
        <p:spPr>
          <a:xfrm>
            <a:off x="1066800" y="1883857"/>
            <a:ext cx="10058400" cy="892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9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29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2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30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3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3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3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31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31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31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87" name="Google Shape;187;p31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88" name="Google Shape;188;p31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31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3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2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32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32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5" name="Google Shape;195;p32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15" y="0"/>
            <a:ext cx="12191985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196" name="Google Shape;196;p32"/>
          <p:cNvSpPr txBox="1">
            <a:spLocks noGrp="1"/>
          </p:cNvSpPr>
          <p:nvPr>
            <p:ph type="body" idx="1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97" name="Google Shape;197;p3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3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3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3"/>
          <p:cNvSpPr txBox="1">
            <a:spLocks noGrp="1"/>
          </p:cNvSpPr>
          <p:nvPr>
            <p:ph type="title"/>
          </p:nvPr>
        </p:nvSpPr>
        <p:spPr>
          <a:xfrm>
            <a:off x="1066800" y="1883857"/>
            <a:ext cx="10058400" cy="892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33"/>
          <p:cNvSpPr txBox="1">
            <a:spLocks noGrp="1"/>
          </p:cNvSpPr>
          <p:nvPr>
            <p:ph type="body" idx="1"/>
          </p:nvPr>
        </p:nvSpPr>
        <p:spPr>
          <a:xfrm rot="5400000">
            <a:off x="4652875" y="-633712"/>
            <a:ext cx="2947211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203" name="Google Shape;203;p3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3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3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3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34"/>
          <p:cNvSpPr txBox="1">
            <a:spLocks noGrp="1"/>
          </p:cNvSpPr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34"/>
          <p:cNvSpPr txBox="1">
            <a:spLocks noGrp="1"/>
          </p:cNvSpPr>
          <p:nvPr>
            <p:ph type="body" idx="1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211" name="Google Shape;211;p3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3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3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36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36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36"/>
          <p:cNvSpPr txBox="1"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33" name="Google Shape;233;p3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3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3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36" name="Google Shape;236;p36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37" name="Google Shape;237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89380" y="187474"/>
            <a:ext cx="2632365" cy="1142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86185" y="149113"/>
            <a:ext cx="1470891" cy="1150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18803" y="88199"/>
            <a:ext cx="1615353" cy="1211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20145" y="47420"/>
            <a:ext cx="2533974" cy="1293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10320" y="431832"/>
            <a:ext cx="1892300" cy="65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7"/>
          <p:cNvSpPr txBox="1">
            <a:spLocks noGrp="1"/>
          </p:cNvSpPr>
          <p:nvPr>
            <p:ph type="title"/>
          </p:nvPr>
        </p:nvSpPr>
        <p:spPr>
          <a:xfrm>
            <a:off x="1066800" y="1883857"/>
            <a:ext cx="10058400" cy="892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37"/>
          <p:cNvSpPr txBox="1">
            <a:spLocks noGrp="1"/>
          </p:cNvSpPr>
          <p:nvPr>
            <p:ph type="body" idx="1"/>
          </p:nvPr>
        </p:nvSpPr>
        <p:spPr>
          <a:xfrm>
            <a:off x="1097280" y="2921882"/>
            <a:ext cx="10058400" cy="2947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245" name="Google Shape;245;p3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3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3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3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38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38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3" name="Google Shape;253;p3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3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3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56" name="Google Shape;256;p38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9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39"/>
          <p:cNvSpPr txBox="1">
            <a:spLocks noGrp="1"/>
          </p:cNvSpPr>
          <p:nvPr>
            <p:ph type="body" idx="1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260" name="Google Shape;260;p39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261" name="Google Shape;261;p39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39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3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0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40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67" name="Google Shape;267;p40"/>
          <p:cNvSpPr txBox="1">
            <a:spLocks noGrp="1"/>
          </p:cNvSpPr>
          <p:nvPr>
            <p:ph type="body" idx="2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268" name="Google Shape;268;p40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69" name="Google Shape;269;p40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270" name="Google Shape;270;p4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4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4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1"/>
          <p:cNvSpPr txBox="1">
            <a:spLocks noGrp="1"/>
          </p:cNvSpPr>
          <p:nvPr>
            <p:ph type="title"/>
          </p:nvPr>
        </p:nvSpPr>
        <p:spPr>
          <a:xfrm>
            <a:off x="1066800" y="1883857"/>
            <a:ext cx="10058400" cy="892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4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4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4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4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4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4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3" name="Google Shape;283;p4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3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43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43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43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289" name="Google Shape;289;p43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90" name="Google Shape;290;p43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43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4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4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44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44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97" name="Google Shape;297;p44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15" y="0"/>
            <a:ext cx="12191985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298" name="Google Shape;298;p44"/>
          <p:cNvSpPr txBox="1">
            <a:spLocks noGrp="1"/>
          </p:cNvSpPr>
          <p:nvPr>
            <p:ph type="body" idx="1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99" name="Google Shape;299;p4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4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4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5"/>
          <p:cNvSpPr txBox="1">
            <a:spLocks noGrp="1"/>
          </p:cNvSpPr>
          <p:nvPr>
            <p:ph type="title"/>
          </p:nvPr>
        </p:nvSpPr>
        <p:spPr>
          <a:xfrm>
            <a:off x="1066800" y="1883857"/>
            <a:ext cx="10058400" cy="892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45"/>
          <p:cNvSpPr txBox="1">
            <a:spLocks noGrp="1"/>
          </p:cNvSpPr>
          <p:nvPr>
            <p:ph type="body" idx="1"/>
          </p:nvPr>
        </p:nvSpPr>
        <p:spPr>
          <a:xfrm rot="5400000">
            <a:off x="4652875" y="-633712"/>
            <a:ext cx="2947211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05" name="Google Shape;305;p4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4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4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46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46"/>
          <p:cNvSpPr txBox="1">
            <a:spLocks noGrp="1"/>
          </p:cNvSpPr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46"/>
          <p:cNvSpPr txBox="1">
            <a:spLocks noGrp="1"/>
          </p:cNvSpPr>
          <p:nvPr>
            <p:ph type="body" idx="1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13" name="Google Shape;313;p4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4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4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4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48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48"/>
          <p:cNvSpPr txBox="1"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35" name="Google Shape;335;p4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6" name="Google Shape;336;p4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4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38" name="Google Shape;338;p48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39" name="Google Shape;339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89380" y="187474"/>
            <a:ext cx="2632365" cy="1142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86185" y="149113"/>
            <a:ext cx="1470891" cy="1150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4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18803" y="88199"/>
            <a:ext cx="1615353" cy="1211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4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20145" y="47420"/>
            <a:ext cx="2533974" cy="1293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4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10320" y="431832"/>
            <a:ext cx="1892300" cy="65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9"/>
          <p:cNvSpPr txBox="1">
            <a:spLocks noGrp="1"/>
          </p:cNvSpPr>
          <p:nvPr>
            <p:ph type="title"/>
          </p:nvPr>
        </p:nvSpPr>
        <p:spPr>
          <a:xfrm>
            <a:off x="1066800" y="1883857"/>
            <a:ext cx="10058400" cy="892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6" name="Google Shape;346;p49"/>
          <p:cNvSpPr txBox="1">
            <a:spLocks noGrp="1"/>
          </p:cNvSpPr>
          <p:nvPr>
            <p:ph type="body" idx="1"/>
          </p:nvPr>
        </p:nvSpPr>
        <p:spPr>
          <a:xfrm>
            <a:off x="1097280" y="2921882"/>
            <a:ext cx="10058400" cy="2947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47" name="Google Shape;347;p49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49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4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0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50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50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4" name="Google Shape;354;p50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5" name="Google Shape;355;p5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5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5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58" name="Google Shape;358;p50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1" name="Google Shape;361;p51"/>
          <p:cNvSpPr txBox="1">
            <a:spLocks noGrp="1"/>
          </p:cNvSpPr>
          <p:nvPr>
            <p:ph type="body" idx="1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62" name="Google Shape;362;p51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63" name="Google Shape;363;p5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4" name="Google Shape;364;p5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5" name="Google Shape;365;p5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2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8" name="Google Shape;368;p52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69" name="Google Shape;369;p52"/>
          <p:cNvSpPr txBox="1">
            <a:spLocks noGrp="1"/>
          </p:cNvSpPr>
          <p:nvPr>
            <p:ph type="body" idx="2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70" name="Google Shape;370;p52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71" name="Google Shape;371;p52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72" name="Google Shape;372;p5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3" name="Google Shape;373;p5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p5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3"/>
          <p:cNvSpPr txBox="1">
            <a:spLocks noGrp="1"/>
          </p:cNvSpPr>
          <p:nvPr>
            <p:ph type="title"/>
          </p:nvPr>
        </p:nvSpPr>
        <p:spPr>
          <a:xfrm>
            <a:off x="1066800" y="1883857"/>
            <a:ext cx="10058400" cy="892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5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8" name="Google Shape;378;p5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9" name="Google Shape;379;p5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5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5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4" name="Google Shape;384;p5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5" name="Google Shape;385;p5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5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55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55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55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91" name="Google Shape;391;p55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392" name="Google Shape;392;p55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55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4" name="Google Shape;394;p5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6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56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56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99" name="Google Shape;399;p56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15" y="0"/>
            <a:ext cx="12191985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400" name="Google Shape;400;p56"/>
          <p:cNvSpPr txBox="1">
            <a:spLocks noGrp="1"/>
          </p:cNvSpPr>
          <p:nvPr>
            <p:ph type="body" idx="1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01" name="Google Shape;401;p5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5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5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7"/>
          <p:cNvSpPr txBox="1">
            <a:spLocks noGrp="1"/>
          </p:cNvSpPr>
          <p:nvPr>
            <p:ph type="title"/>
          </p:nvPr>
        </p:nvSpPr>
        <p:spPr>
          <a:xfrm>
            <a:off x="1066800" y="1883857"/>
            <a:ext cx="10058400" cy="892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6" name="Google Shape;406;p57"/>
          <p:cNvSpPr txBox="1">
            <a:spLocks noGrp="1"/>
          </p:cNvSpPr>
          <p:nvPr>
            <p:ph type="body" idx="1"/>
          </p:nvPr>
        </p:nvSpPr>
        <p:spPr>
          <a:xfrm rot="5400000">
            <a:off x="4652875" y="-633712"/>
            <a:ext cx="2947211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07" name="Google Shape;407;p5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8" name="Google Shape;408;p5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9" name="Google Shape;409;p5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5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58"/>
          <p:cNvSpPr txBox="1">
            <a:spLocks noGrp="1"/>
          </p:cNvSpPr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4" name="Google Shape;414;p58"/>
          <p:cNvSpPr txBox="1">
            <a:spLocks noGrp="1"/>
          </p:cNvSpPr>
          <p:nvPr>
            <p:ph type="body" idx="1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15" name="Google Shape;415;p5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6" name="Google Shape;416;p5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7" name="Google Shape;417;p5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0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60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60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60"/>
          <p:cNvSpPr txBox="1"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37" name="Google Shape;437;p6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8" name="Google Shape;438;p6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9" name="Google Shape;439;p6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40" name="Google Shape;440;p60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41" name="Google Shape;441;p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89380" y="187474"/>
            <a:ext cx="2632365" cy="1142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86185" y="149113"/>
            <a:ext cx="1470891" cy="1150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6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18803" y="88199"/>
            <a:ext cx="1615353" cy="1211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6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20145" y="47420"/>
            <a:ext cx="2533974" cy="1293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6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10320" y="431832"/>
            <a:ext cx="1892300" cy="65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1"/>
          <p:cNvSpPr txBox="1">
            <a:spLocks noGrp="1"/>
          </p:cNvSpPr>
          <p:nvPr>
            <p:ph type="title"/>
          </p:nvPr>
        </p:nvSpPr>
        <p:spPr>
          <a:xfrm>
            <a:off x="1066800" y="1883857"/>
            <a:ext cx="10058400" cy="892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8" name="Google Shape;448;p61"/>
          <p:cNvSpPr txBox="1">
            <a:spLocks noGrp="1"/>
          </p:cNvSpPr>
          <p:nvPr>
            <p:ph type="body" idx="1"/>
          </p:nvPr>
        </p:nvSpPr>
        <p:spPr>
          <a:xfrm>
            <a:off x="1097280" y="2921882"/>
            <a:ext cx="10058400" cy="2947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49" name="Google Shape;449;p6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0" name="Google Shape;450;p6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1" name="Google Shape;451;p6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6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62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6" name="Google Shape;456;p62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57" name="Google Shape;457;p6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8" name="Google Shape;458;p6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9" name="Google Shape;459;p6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60" name="Google Shape;460;p62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3" name="Google Shape;463;p63"/>
          <p:cNvSpPr txBox="1">
            <a:spLocks noGrp="1"/>
          </p:cNvSpPr>
          <p:nvPr>
            <p:ph type="body" idx="1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64" name="Google Shape;464;p63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65" name="Google Shape;465;p6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6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6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6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64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1" name="Google Shape;471;p64"/>
          <p:cNvSpPr txBox="1">
            <a:spLocks noGrp="1"/>
          </p:cNvSpPr>
          <p:nvPr>
            <p:ph type="body" idx="2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72" name="Google Shape;472;p64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3" name="Google Shape;473;p64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74" name="Google Shape;474;p6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5" name="Google Shape;475;p6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6" name="Google Shape;476;p6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5"/>
          <p:cNvSpPr txBox="1">
            <a:spLocks noGrp="1"/>
          </p:cNvSpPr>
          <p:nvPr>
            <p:ph type="title"/>
          </p:nvPr>
        </p:nvSpPr>
        <p:spPr>
          <a:xfrm>
            <a:off x="1066800" y="1883857"/>
            <a:ext cx="10058400" cy="892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9" name="Google Shape;479;p6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0" name="Google Shape;480;p6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1" name="Google Shape;481;p6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6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66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6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6" name="Google Shape;486;p6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7" name="Google Shape;487;p6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6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67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67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2" name="Google Shape;492;p67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93" name="Google Shape;493;p67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94" name="Google Shape;494;p67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5" name="Google Shape;495;p67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6" name="Google Shape;496;p6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68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6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68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01" name="Google Shape;501;p68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15" y="0"/>
            <a:ext cx="12191985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502" name="Google Shape;502;p68"/>
          <p:cNvSpPr txBox="1">
            <a:spLocks noGrp="1"/>
          </p:cNvSpPr>
          <p:nvPr>
            <p:ph type="body" idx="1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03" name="Google Shape;503;p6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4" name="Google Shape;504;p6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5" name="Google Shape;505;p6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9"/>
          <p:cNvSpPr txBox="1">
            <a:spLocks noGrp="1"/>
          </p:cNvSpPr>
          <p:nvPr>
            <p:ph type="title"/>
          </p:nvPr>
        </p:nvSpPr>
        <p:spPr>
          <a:xfrm>
            <a:off x="1066800" y="1883857"/>
            <a:ext cx="10058400" cy="892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8" name="Google Shape;508;p69"/>
          <p:cNvSpPr txBox="1">
            <a:spLocks noGrp="1"/>
          </p:cNvSpPr>
          <p:nvPr>
            <p:ph type="body" idx="1"/>
          </p:nvPr>
        </p:nvSpPr>
        <p:spPr>
          <a:xfrm rot="5400000">
            <a:off x="4652875" y="-633712"/>
            <a:ext cx="2947211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09" name="Google Shape;509;p69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0" name="Google Shape;510;p69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1" name="Google Shape;511;p6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70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70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70"/>
          <p:cNvSpPr txBox="1">
            <a:spLocks noGrp="1"/>
          </p:cNvSpPr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6" name="Google Shape;516;p70"/>
          <p:cNvSpPr txBox="1">
            <a:spLocks noGrp="1"/>
          </p:cNvSpPr>
          <p:nvPr>
            <p:ph type="body" idx="1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17" name="Google Shape;517;p7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8" name="Google Shape;518;p7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9" name="Google Shape;519;p7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17" Type="http://schemas.openxmlformats.org/officeDocument/2006/relationships/image" Target="../media/image5.jpg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3.jp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17" Type="http://schemas.openxmlformats.org/officeDocument/2006/relationships/image" Target="../media/image5.jpg"/><Relationship Id="rId2" Type="http://schemas.openxmlformats.org/officeDocument/2006/relationships/slideLayout" Target="../slideLayouts/slideLayout2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image" Target="../media/image3.jpg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2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17" Type="http://schemas.openxmlformats.org/officeDocument/2006/relationships/image" Target="../media/image5.jpg"/><Relationship Id="rId2" Type="http://schemas.openxmlformats.org/officeDocument/2006/relationships/slideLayout" Target="../slideLayouts/slideLayout36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image" Target="../media/image3.jpg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image" Target="../media/image2.jp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theme" Target="../theme/theme5.xml"/><Relationship Id="rId17" Type="http://schemas.openxmlformats.org/officeDocument/2006/relationships/image" Target="../media/image5.jpg"/><Relationship Id="rId2" Type="http://schemas.openxmlformats.org/officeDocument/2006/relationships/slideLayout" Target="../slideLayouts/slideLayout47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5" Type="http://schemas.openxmlformats.org/officeDocument/2006/relationships/image" Target="../media/image3.jpg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10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10"/>
          <p:cNvSpPr txBox="1">
            <a:spLocks noGrp="1"/>
          </p:cNvSpPr>
          <p:nvPr>
            <p:ph type="title"/>
          </p:nvPr>
        </p:nvSpPr>
        <p:spPr>
          <a:xfrm>
            <a:off x="1066800" y="1883856"/>
            <a:ext cx="10058400" cy="1211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 sz="32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body" idx="1"/>
          </p:nvPr>
        </p:nvSpPr>
        <p:spPr>
          <a:xfrm>
            <a:off x="1097280" y="3241094"/>
            <a:ext cx="10058400" cy="262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" name="Google Shape;13;p10"/>
          <p:cNvCxnSpPr/>
          <p:nvPr/>
        </p:nvCxnSpPr>
        <p:spPr>
          <a:xfrm>
            <a:off x="1193532" y="724788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4" name="Google Shape;14;p1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080915" y="22035"/>
            <a:ext cx="1615354" cy="701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10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109191" y="107238"/>
            <a:ext cx="838037" cy="618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10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302031" y="26312"/>
            <a:ext cx="964700" cy="639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0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5453232" y="22035"/>
            <a:ext cx="1615353" cy="669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0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632936" y="176579"/>
            <a:ext cx="1246867" cy="430964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3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3"/>
          <p:cNvSpPr txBox="1">
            <a:spLocks noGrp="1"/>
          </p:cNvSpPr>
          <p:nvPr>
            <p:ph type="title"/>
          </p:nvPr>
        </p:nvSpPr>
        <p:spPr>
          <a:xfrm>
            <a:off x="1066800" y="1883857"/>
            <a:ext cx="10058400" cy="892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 sz="32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body" idx="1"/>
          </p:nvPr>
        </p:nvSpPr>
        <p:spPr>
          <a:xfrm>
            <a:off x="1097280" y="2921882"/>
            <a:ext cx="10058400" cy="2947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9" name="Google Shape;119;p2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20" name="Google Shape;120;p23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1" name="Google Shape;121;p23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89380" y="187474"/>
            <a:ext cx="2632365" cy="1142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3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686186" y="149113"/>
            <a:ext cx="904288" cy="1150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3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5318803" y="88199"/>
            <a:ext cx="1615353" cy="1211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3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020145" y="47420"/>
            <a:ext cx="2533974" cy="1293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3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9610320" y="457686"/>
            <a:ext cx="1892300" cy="65405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5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35"/>
          <p:cNvSpPr txBox="1">
            <a:spLocks noGrp="1"/>
          </p:cNvSpPr>
          <p:nvPr>
            <p:ph type="title"/>
          </p:nvPr>
        </p:nvSpPr>
        <p:spPr>
          <a:xfrm>
            <a:off x="1066800" y="1883857"/>
            <a:ext cx="10058400" cy="892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 sz="32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8" name="Google Shape;218;p35"/>
          <p:cNvSpPr txBox="1">
            <a:spLocks noGrp="1"/>
          </p:cNvSpPr>
          <p:nvPr>
            <p:ph type="body" idx="1"/>
          </p:nvPr>
        </p:nvSpPr>
        <p:spPr>
          <a:xfrm>
            <a:off x="1097280" y="2921882"/>
            <a:ext cx="10058400" cy="2947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9" name="Google Shape;219;p3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0" name="Google Shape;220;p3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1" name="Google Shape;221;p3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22" name="Google Shape;222;p35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23" name="Google Shape;223;p35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89380" y="187474"/>
            <a:ext cx="2632365" cy="1142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5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686185" y="149113"/>
            <a:ext cx="1470891" cy="1150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5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5318803" y="88199"/>
            <a:ext cx="1615353" cy="1211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5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020145" y="47420"/>
            <a:ext cx="2533974" cy="1293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5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9610320" y="457686"/>
            <a:ext cx="1892300" cy="65405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7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47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47"/>
          <p:cNvSpPr txBox="1">
            <a:spLocks noGrp="1"/>
          </p:cNvSpPr>
          <p:nvPr>
            <p:ph type="title"/>
          </p:nvPr>
        </p:nvSpPr>
        <p:spPr>
          <a:xfrm>
            <a:off x="1066800" y="1883857"/>
            <a:ext cx="10058400" cy="892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 sz="32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20" name="Google Shape;320;p47"/>
          <p:cNvSpPr txBox="1">
            <a:spLocks noGrp="1"/>
          </p:cNvSpPr>
          <p:nvPr>
            <p:ph type="body" idx="1"/>
          </p:nvPr>
        </p:nvSpPr>
        <p:spPr>
          <a:xfrm>
            <a:off x="1097280" y="2921882"/>
            <a:ext cx="10058400" cy="2947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1" name="Google Shape;321;p4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2" name="Google Shape;322;p4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3" name="Google Shape;323;p4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24" name="Google Shape;324;p47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25" name="Google Shape;325;p47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89380" y="187474"/>
            <a:ext cx="2632365" cy="1142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7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686185" y="149113"/>
            <a:ext cx="1470891" cy="1150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47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5318803" y="88199"/>
            <a:ext cx="1615353" cy="1211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47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020145" y="47420"/>
            <a:ext cx="2533974" cy="1293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47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9610320" y="457686"/>
            <a:ext cx="1892300" cy="65405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9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59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59"/>
          <p:cNvSpPr txBox="1">
            <a:spLocks noGrp="1"/>
          </p:cNvSpPr>
          <p:nvPr>
            <p:ph type="title"/>
          </p:nvPr>
        </p:nvSpPr>
        <p:spPr>
          <a:xfrm>
            <a:off x="1066800" y="1883857"/>
            <a:ext cx="10058400" cy="892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 sz="32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2" name="Google Shape;422;p59"/>
          <p:cNvSpPr txBox="1">
            <a:spLocks noGrp="1"/>
          </p:cNvSpPr>
          <p:nvPr>
            <p:ph type="body" idx="1"/>
          </p:nvPr>
        </p:nvSpPr>
        <p:spPr>
          <a:xfrm>
            <a:off x="1097280" y="2921882"/>
            <a:ext cx="10058400" cy="2947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3" name="Google Shape;423;p59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4" name="Google Shape;424;p59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5" name="Google Shape;425;p5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26" name="Google Shape;426;p59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27" name="Google Shape;427;p59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89380" y="187474"/>
            <a:ext cx="2632365" cy="1142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59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686185" y="149113"/>
            <a:ext cx="1470891" cy="1150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59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5318803" y="88199"/>
            <a:ext cx="1615353" cy="1211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59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020145" y="47420"/>
            <a:ext cx="2533974" cy="1293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59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9610320" y="457686"/>
            <a:ext cx="1892300" cy="65405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"/>
          <p:cNvSpPr txBox="1">
            <a:spLocks noGrp="1"/>
          </p:cNvSpPr>
          <p:nvPr>
            <p:ph type="ctrTitle"/>
          </p:nvPr>
        </p:nvSpPr>
        <p:spPr>
          <a:xfrm>
            <a:off x="1066800" y="1164612"/>
            <a:ext cx="10058400" cy="1660801"/>
          </a:xfrm>
          <a:prstGeom prst="rect">
            <a:avLst/>
          </a:prstGeom>
          <a:solidFill>
            <a:srgbClr val="ACC8DD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3600">
                <a:solidFill>
                  <a:schemeClr val="dk1"/>
                </a:solidFill>
              </a:rPr>
              <a:t>ICCCA- 2025    </a:t>
            </a:r>
            <a:br>
              <a:rPr lang="en-US" sz="3600">
                <a:solidFill>
                  <a:schemeClr val="dk1"/>
                </a:solidFill>
              </a:rPr>
            </a:br>
            <a:r>
              <a:rPr lang="en-US" sz="3500">
                <a:solidFill>
                  <a:schemeClr val="dk1"/>
                </a:solidFill>
              </a:rPr>
              <a:t>2025 IEEE 7</a:t>
            </a:r>
            <a:r>
              <a:rPr lang="en-US" sz="3500" baseline="30000">
                <a:solidFill>
                  <a:schemeClr val="dk1"/>
                </a:solidFill>
              </a:rPr>
              <a:t>TH</a:t>
            </a:r>
            <a:r>
              <a:rPr lang="en-US" sz="3500">
                <a:solidFill>
                  <a:schemeClr val="dk1"/>
                </a:solidFill>
              </a:rPr>
              <a:t>  International Conference on Computing, Communication and Automation (#66364)</a:t>
            </a:r>
            <a:endParaRPr sz="7900"/>
          </a:p>
        </p:txBody>
      </p:sp>
      <p:sp>
        <p:nvSpPr>
          <p:cNvPr id="525" name="Google Shape;525;p1"/>
          <p:cNvSpPr txBox="1"/>
          <p:nvPr/>
        </p:nvSpPr>
        <p:spPr>
          <a:xfrm>
            <a:off x="1752346" y="4536768"/>
            <a:ext cx="8446800" cy="92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Track </a:t>
            </a:r>
            <a:r>
              <a:rPr lang="en-US" sz="18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8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Track</a:t>
            </a:r>
            <a:endParaRPr b="1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Presenter Name</a:t>
            </a:r>
            <a:r>
              <a:rPr lang="en-US" sz="18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Shivadhar Reddy Gade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Affiliation: Student, Chandigarh </a:t>
            </a:r>
            <a:r>
              <a:rPr lang="en-US" sz="18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University.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"/>
          <p:cNvSpPr txBox="1"/>
          <p:nvPr/>
        </p:nvSpPr>
        <p:spPr>
          <a:xfrm>
            <a:off x="1123122" y="3219446"/>
            <a:ext cx="9894404" cy="92328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Paper ID: </a:t>
            </a:r>
            <a:r>
              <a:rPr lang="en-US" sz="18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1864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Paper Title: </a:t>
            </a:r>
            <a:r>
              <a:rPr lang="en-US" sz="18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Credit Card Fraud Detection</a:t>
            </a:r>
            <a:endParaRPr b="1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"/>
          <p:cNvSpPr txBox="1">
            <a:spLocks noGrp="1"/>
          </p:cNvSpPr>
          <p:nvPr>
            <p:ph type="body" idx="1"/>
          </p:nvPr>
        </p:nvSpPr>
        <p:spPr>
          <a:xfrm>
            <a:off x="1149904" y="1535596"/>
            <a:ext cx="10058400" cy="4333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30734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Introduction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7340" lvl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Approaches/ Related Work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7340" lvl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Problems in Existing Approaches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7340" lvl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Proposed Methodology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7340" lvl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Results </a:t>
            </a:r>
          </a:p>
          <a:p>
            <a:pPr marL="307340" lvl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Conclusion and Future Work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7340" lvl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References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" lvl="0" indent="0" algn="ctr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endParaRPr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BBD15F-965A-4562-B593-DF8B1880F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083" y="778682"/>
            <a:ext cx="10058400" cy="692309"/>
          </a:xfrm>
        </p:spPr>
        <p:txBody>
          <a:bodyPr>
            <a:normAutofit/>
          </a:bodyPr>
          <a:lstStyle/>
          <a:p>
            <a:r>
              <a:rPr lang="en-GB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DD5148D2-5A84-67C0-1CD6-92562A37D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083" y="778682"/>
            <a:ext cx="10058400" cy="692309"/>
          </a:xfrm>
        </p:spPr>
        <p:txBody>
          <a:bodyPr>
            <a:normAutofit/>
          </a:bodyPr>
          <a:lstStyle/>
          <a:p>
            <a:r>
              <a:rPr lang="en-GB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532;p2">
            <a:extLst>
              <a:ext uri="{FF2B5EF4-FFF2-40B4-BE49-F238E27FC236}">
                <a16:creationId xmlns:a16="http://schemas.microsoft.com/office/drawing/2014/main" id="{9AEF0BBD-2C5C-6E22-CF72-E7ED0B707E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8296" y="1756228"/>
            <a:ext cx="11158961" cy="4049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34340" lvl="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Credit cards are widely used globally, increasing convenience but also fraud risks.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4340" lvl="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Rising online payments have led to major financial losses and reduced consumer trust.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4340" lvl="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rule-based and manual systems fail to detect evolving fraud techniques.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4340" lvl="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Learning(ML) enables smart, data-driven fraud detection techniques.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4340" lvl="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ML models struggle with imbalanced datasets and dynamic fraud patterns.</a:t>
            </a:r>
          </a:p>
          <a:p>
            <a:pPr marL="434340" lvl="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Hybrid ML Model combines supervised and unsupervised learning to enhance accuracy, scalability, and reduce false positives.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951079F9-D458-2FB3-61E5-0C1872FD5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083" y="778682"/>
            <a:ext cx="10058400" cy="692309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Approaches / Related Work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532;p2">
            <a:extLst>
              <a:ext uri="{FF2B5EF4-FFF2-40B4-BE49-F238E27FC236}">
                <a16:creationId xmlns:a16="http://schemas.microsoft.com/office/drawing/2014/main" id="{C885D4C0-F1C9-6A7A-EF38-947EC3E569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8296" y="1416325"/>
            <a:ext cx="11086390" cy="4839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34340" lvl="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Systems: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Use predefined transaction limits and patterns; easy to implement but lack adaptability to new frauds.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4340" lvl="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Machine Learning Models: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like Logistic Regression, Decision Trees, Random Forest, SVM, and Gradient Boosting use labeled data to classify transactions.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4340" lvl="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Methods: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such as Autoencoders, Isolation Forest, and K-means detect anomalies without labels but generate higher false alarms.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4340" lvl="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Approaches: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ANN, CNN, and RNN models capture complex patterns yet require heavy computation and large datasets.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4340" lvl="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Hybrid Machine Learning Models: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Combine supervised and unsupervised learning to balance accuracy, scalability, and adaptability for real-time fraud detection.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167FF13F-100E-4BDA-7708-8B3120A69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083" y="778682"/>
            <a:ext cx="10058400" cy="692309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in Existing Approaches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532;p2">
            <a:extLst>
              <a:ext uri="{FF2B5EF4-FFF2-40B4-BE49-F238E27FC236}">
                <a16:creationId xmlns:a16="http://schemas.microsoft.com/office/drawing/2014/main" id="{47DA0BDB-FC51-E1E2-1034-D79F898F1D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8296" y="1416326"/>
            <a:ext cx="10934188" cy="4065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34340" lvl="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 False Alarms: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Frequent false positives and negatives reduce system reliability.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4340" lvl="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Imbalanced Data: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Fraud cases are rare, causing biased model predictions.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4340" lvl="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Adaptability: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systems fail to detect new and evolving fraud patterns.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4340" lvl="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 Computational Cost: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Deep and complex models require significant processing power.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4340" lvl="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Limited Real-Time Scalability: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Most models cannot handle large-scale, real-time transaction data efficiently.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4340" lvl="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Poor Scalability and Integration: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models lack flexibility and scalability for deployment in real-world financial systems.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3DA037A5-C4CC-534C-D3B7-000F64A97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083" y="778682"/>
            <a:ext cx="10058400" cy="692309"/>
          </a:xfrm>
        </p:spPr>
        <p:txBody>
          <a:bodyPr>
            <a:norm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sp>
        <p:nvSpPr>
          <p:cNvPr id="9" name="Google Shape;532;p2">
            <a:extLst>
              <a:ext uri="{FF2B5EF4-FFF2-40B4-BE49-F238E27FC236}">
                <a16:creationId xmlns:a16="http://schemas.microsoft.com/office/drawing/2014/main" id="{174956DF-75CA-538F-D820-67F106BFAF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8296" y="1470991"/>
            <a:ext cx="11070061" cy="4537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34340" lvl="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Preprocessing: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Used the Kaggle Credit Card Fraud Dataset(284,807 transactions, 492 frauds). Missing values were handled, data normalized, and classes balanced using SMOTE and undersampling to address imbalance.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4340" lvl="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 Optimization: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Applied Principal Component Analysis(PCA) to eliminate redundant features, reduce dimensions, and enhance model efficiency.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4340" lvl="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Hybrid Model Design: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Combined supervised algorithms(Random Forest, SVM, Gradient Boosting) with unsupervised methods(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Autoencoder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Isolation Forest) for improved fraud detection accuracy and adaptability.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4340" lvl="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Performance measured using Accuracy, Precision, Recall, F1-score, and AUC-ROC, emphasizing reduced false positives and missed frauds for real-time scalability.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FD44842B-E64A-C43A-E9E3-A8BBFC5DD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083" y="778682"/>
            <a:ext cx="10058400" cy="692309"/>
          </a:xfrm>
        </p:spPr>
        <p:txBody>
          <a:bodyPr>
            <a:norm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10" y="1717734"/>
            <a:ext cx="5269219" cy="41420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6970" y="1717734"/>
            <a:ext cx="5602515" cy="41420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22CB5498-3D28-D925-A495-D7D031724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083" y="778682"/>
            <a:ext cx="10058400" cy="692309"/>
          </a:xfrm>
        </p:spPr>
        <p:txBody>
          <a:bodyPr>
            <a:norm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</a:p>
        </p:txBody>
      </p:sp>
      <p:sp>
        <p:nvSpPr>
          <p:cNvPr id="7" name="Google Shape;532;p2">
            <a:extLst>
              <a:ext uri="{FF2B5EF4-FFF2-40B4-BE49-F238E27FC236}">
                <a16:creationId xmlns:a16="http://schemas.microsoft.com/office/drawing/2014/main" id="{3F2FAF1A-310B-F5E2-6544-B8732FD440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8296" y="1416326"/>
            <a:ext cx="11009464" cy="4563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34340" lvl="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hybrid ML model effectively combines supervised and unsupervised algorithms to improve fraud detection accuracy and reduce false positives/negatives.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4340" lvl="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 demonstrate higher precision, recall, F1-score, and ROC-AUC, proving superiority over traditional single models.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4340" lvl="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offers real-time scalability, making it suitable for large-scale financial and online transaction monitoring.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4340" lvl="0" algn="just">
              <a:spcBef>
                <a:spcPts val="1400"/>
              </a:spcBef>
              <a:buSzPts val="2000"/>
              <a:buFont typeface="Arial" panose="020B0604020202020204" pitchFamily="34" charset="0"/>
              <a:buChar char="•"/>
            </a:pPr>
            <a:r>
              <a:rPr lang="en-US" sz="2400" dirty="0" smtClean="0"/>
              <a:t>Incorporating </a:t>
            </a:r>
            <a:r>
              <a:rPr lang="en-US" sz="2400" dirty="0" err="1" smtClean="0"/>
              <a:t>blockchain</a:t>
            </a:r>
            <a:r>
              <a:rPr lang="en-US" sz="2400" dirty="0" smtClean="0"/>
              <a:t> </a:t>
            </a:r>
            <a:r>
              <a:rPr lang="en-US" sz="2400" dirty="0" smtClean="0"/>
              <a:t>and federated learning can ensure secure, transparent, and privacy-preserving fraud detection.</a:t>
            </a:r>
            <a:endParaRPr lang="en-US" sz="2400" dirty="0"/>
          </a:p>
          <a:p>
            <a:pPr marL="434340" lvl="0" algn="just">
              <a:spcBef>
                <a:spcPts val="1400"/>
              </a:spcBef>
              <a:buSzPts val="2000"/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 aims to use online and reinforcement learning for adaptive, self-evolving detection against new fraud patterns.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40CF9C3C-AE43-FC9F-8B2D-BF98D58C2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083" y="778682"/>
            <a:ext cx="10058400" cy="692309"/>
          </a:xfrm>
        </p:spPr>
        <p:txBody>
          <a:bodyPr>
            <a:norm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7" name="Google Shape;532;p2">
            <a:extLst>
              <a:ext uri="{FF2B5EF4-FFF2-40B4-BE49-F238E27FC236}">
                <a16:creationId xmlns:a16="http://schemas.microsoft.com/office/drawing/2014/main" id="{AD4C7E2F-205C-3045-E00A-74FDCD1237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8296" y="1416326"/>
            <a:ext cx="11380304" cy="4537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539750" indent="-449263" algn="just">
              <a:spcBef>
                <a:spcPts val="1400"/>
              </a:spcBef>
              <a:buSzPts val="2000"/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US" dirty="0"/>
              <a:t>E. A. L. M. </a:t>
            </a:r>
            <a:r>
              <a:rPr lang="en-US" dirty="0" err="1"/>
              <a:t>Btoush</a:t>
            </a:r>
            <a:r>
              <a:rPr lang="en-US" dirty="0"/>
              <a:t>, X. Zhou, R. </a:t>
            </a:r>
            <a:r>
              <a:rPr lang="en-US" dirty="0" err="1"/>
              <a:t>Gururajan</a:t>
            </a:r>
            <a:r>
              <a:rPr lang="en-US" dirty="0"/>
              <a:t>, K. C. Chan, R. </a:t>
            </a:r>
            <a:r>
              <a:rPr lang="en-US" dirty="0" err="1"/>
              <a:t>Genrich</a:t>
            </a:r>
            <a:r>
              <a:rPr lang="en-US" dirty="0"/>
              <a:t>, and P. </a:t>
            </a:r>
            <a:r>
              <a:rPr lang="en-US" dirty="0" err="1"/>
              <a:t>Sankaran</a:t>
            </a:r>
            <a:r>
              <a:rPr lang="en-US" dirty="0"/>
              <a:t>, ‘A systematic review of literature on credit card cyber fraud detection using machine and deep learning’, </a:t>
            </a:r>
            <a:r>
              <a:rPr lang="en-US" i="1" dirty="0" err="1"/>
              <a:t>PeerJ</a:t>
            </a:r>
            <a:r>
              <a:rPr lang="en-US" i="1" dirty="0"/>
              <a:t> </a:t>
            </a:r>
            <a:r>
              <a:rPr lang="en-US" i="1" dirty="0" err="1"/>
              <a:t>Comput</a:t>
            </a:r>
            <a:r>
              <a:rPr lang="en-US" i="1" dirty="0"/>
              <a:t> </a:t>
            </a:r>
            <a:r>
              <a:rPr lang="en-US" i="1" dirty="0" err="1"/>
              <a:t>Sci</a:t>
            </a:r>
            <a:r>
              <a:rPr lang="en-US" dirty="0"/>
              <a:t>, vol. 9, p. e1278, Apr. 2023, </a:t>
            </a:r>
            <a:r>
              <a:rPr lang="en-US" dirty="0" err="1"/>
              <a:t>doi</a:t>
            </a:r>
            <a:r>
              <a:rPr lang="en-US" dirty="0"/>
              <a:t>: </a:t>
            </a:r>
            <a:r>
              <a:rPr lang="en-US" dirty="0" smtClean="0"/>
              <a:t>10.7717/PEERJ-CS.1278/TABLE-7.</a:t>
            </a:r>
            <a:endParaRPr lang="en-US" dirty="0"/>
          </a:p>
          <a:p>
            <a:pPr marL="539750" indent="-449263" algn="just">
              <a:spcBef>
                <a:spcPts val="1400"/>
              </a:spcBef>
              <a:buSzPts val="2000"/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US" dirty="0"/>
              <a:t>M. A. </a:t>
            </a:r>
            <a:r>
              <a:rPr lang="en-US" dirty="0" err="1"/>
              <a:t>Alrasheedi</a:t>
            </a:r>
            <a:r>
              <a:rPr lang="en-US" dirty="0"/>
              <a:t>, ‘Enhancing Fraud Detection in Credit Card Transactions: A Comparative Study of Machine Learning Models’, </a:t>
            </a:r>
            <a:r>
              <a:rPr lang="en-US" i="1" dirty="0" err="1"/>
              <a:t>Comput</a:t>
            </a:r>
            <a:r>
              <a:rPr lang="en-US" i="1" dirty="0"/>
              <a:t> Econ</a:t>
            </a:r>
            <a:r>
              <a:rPr lang="en-US" dirty="0"/>
              <a:t>, pp. 1–27, Aug. 2025, </a:t>
            </a:r>
            <a:r>
              <a:rPr lang="en-US" dirty="0" err="1"/>
              <a:t>doi</a:t>
            </a:r>
            <a:r>
              <a:rPr lang="en-US" dirty="0"/>
              <a:t>: 10.1007/S10614-025-11071-3/TABLES/12</a:t>
            </a:r>
            <a:r>
              <a:rPr lang="en-US" dirty="0" smtClean="0"/>
              <a:t>.</a:t>
            </a:r>
          </a:p>
          <a:p>
            <a:pPr marL="539750" indent="-449263" algn="just">
              <a:spcBef>
                <a:spcPts val="1400"/>
              </a:spcBef>
              <a:buSzPts val="2000"/>
              <a:buNone/>
            </a:pPr>
            <a:r>
              <a:rPr lang="en-IN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US"/>
              <a:t>V. </a:t>
            </a:r>
            <a:r>
              <a:rPr lang="en-US" dirty="0"/>
              <a:t>Chang, B. Ali, L. Golightly, M. A. </a:t>
            </a:r>
            <a:r>
              <a:rPr lang="en-US" dirty="0" err="1"/>
              <a:t>Ganatra</a:t>
            </a:r>
            <a:r>
              <a:rPr lang="en-US" dirty="0"/>
              <a:t>, and M. Mohamed, ‘Investigating Credit Card Payment Fraud with Detection Methods Using Advanced Machine Learning’, </a:t>
            </a:r>
            <a:r>
              <a:rPr lang="en-US" i="1" dirty="0"/>
              <a:t>Information 2024, Vol. 15, Page 478</a:t>
            </a:r>
            <a:r>
              <a:rPr lang="en-US" dirty="0"/>
              <a:t>, vol. 15, no. 8, p. 478, Aug. 2024, </a:t>
            </a:r>
            <a:r>
              <a:rPr lang="en-US" dirty="0" err="1"/>
              <a:t>doi</a:t>
            </a:r>
            <a:r>
              <a:rPr lang="en-US" dirty="0"/>
              <a:t>: 10.3390/INFO15080478</a:t>
            </a:r>
            <a:r>
              <a:rPr lang="en-US" dirty="0" smtClean="0"/>
              <a:t>.</a:t>
            </a:r>
            <a:endParaRPr lang="en-IN" smtClean="0"/>
          </a:p>
          <a:p>
            <a:pPr marL="539750" indent="-449263" algn="just">
              <a:spcBef>
                <a:spcPts val="1400"/>
              </a:spcBef>
              <a:buSzPts val="2000"/>
              <a:buNone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4]</a:t>
            </a:r>
            <a:r>
              <a:rPr lang="en-US"/>
              <a:t> M. </a:t>
            </a:r>
            <a:r>
              <a:rPr lang="en-US" dirty="0" err="1"/>
              <a:t>Shanaa</a:t>
            </a:r>
            <a:r>
              <a:rPr lang="en-US" dirty="0"/>
              <a:t> and S. Abdallah, ‘A Hybrid Anomaly Detection Framework Combining Supervised and Unsupervised Learning for Credit Card Fraud Detection’, </a:t>
            </a:r>
            <a:r>
              <a:rPr lang="en-US" i="1" dirty="0"/>
              <a:t>F1000Research 2025 14:664</a:t>
            </a:r>
            <a:r>
              <a:rPr lang="en-US" dirty="0"/>
              <a:t>, vol. 14, p. 664, Jul. 2025, </a:t>
            </a:r>
            <a:r>
              <a:rPr lang="en-US" dirty="0" err="1"/>
              <a:t>doi</a:t>
            </a:r>
            <a:r>
              <a:rPr lang="en-US" dirty="0"/>
              <a:t>: </a:t>
            </a:r>
            <a:r>
              <a:rPr lang="en-US" dirty="0" smtClean="0"/>
              <a:t>10.12688/f1000research.166350.1.</a:t>
            </a:r>
            <a:endParaRPr lang="en-IN" dirty="0"/>
          </a:p>
          <a:p>
            <a:pPr marL="539750" indent="-449263" algn="just">
              <a:spcBef>
                <a:spcPts val="1400"/>
              </a:spcBef>
              <a:buSzPts val="2000"/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" lvl="0" indent="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4_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5_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799</Words>
  <Application>Microsoft Office PowerPoint</Application>
  <PresentationFormat>Widescreen</PresentationFormat>
  <Paragraphs>51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Arial</vt:lpstr>
      <vt:lpstr>Calibri</vt:lpstr>
      <vt:lpstr>Noto Sans Symbols</vt:lpstr>
      <vt:lpstr>Times New Roman</vt:lpstr>
      <vt:lpstr>Wingdings</vt:lpstr>
      <vt:lpstr>Retrospect</vt:lpstr>
      <vt:lpstr>1_Retrospect</vt:lpstr>
      <vt:lpstr>3_Retrospect</vt:lpstr>
      <vt:lpstr>4_Retrospect</vt:lpstr>
      <vt:lpstr>5_Retrospect</vt:lpstr>
      <vt:lpstr>ICCCA- 2025     2025 IEEE 7TH  International Conference on Computing, Communication and Automation (#66364)</vt:lpstr>
      <vt:lpstr>Outline</vt:lpstr>
      <vt:lpstr>Introduction</vt:lpstr>
      <vt:lpstr>Existing Approaches / Related Work</vt:lpstr>
      <vt:lpstr>Problems in Existing Approaches</vt:lpstr>
      <vt:lpstr>Proposed Methodology</vt:lpstr>
      <vt:lpstr>Results</vt:lpstr>
      <vt:lpstr>Conclusion and Future Work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ICCCA- 2025     2025 IEEE 7TH  International Conference on Computing, Communication and Automation (#66364)</dc:title>
  <dc:creator>ishana attri</dc:creator>
  <cp:lastModifiedBy>Shivadhar Gade</cp:lastModifiedBy>
  <cp:revision>15</cp:revision>
  <dcterms:created xsi:type="dcterms:W3CDTF">2025-10-30T10:55:16Z</dcterms:created>
  <dcterms:modified xsi:type="dcterms:W3CDTF">2025-11-05T14:40:48Z</dcterms:modified>
</cp:coreProperties>
</file>